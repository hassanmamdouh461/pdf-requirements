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1371600"/>
            <a:ext cx="62179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300" b="1">
                <a:solidFill>
                  <a:srgbClr val="7FF0CF"/>
                </a:solidFill>
                <a:latin typeface="Segoe UI"/>
              </a:rPr>
              <a:t>دليل المميزات الشامل — منظومة النقل الذكي</a:t>
            </a:r>
          </a:p>
          <a:p>
            <a:pPr algn="r" rtl="1"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r" rtl="1">
              <a:spcAft>
                <a:spcPts val="1800"/>
              </a:spcAft>
            </a:pPr>
            <a:r>
              <a:rPr sz="3200" b="1">
                <a:solidFill>
                  <a:srgbClr val="7FF0CF"/>
                </a:solidFill>
                <a:latin typeface="Segoe UI"/>
              </a:rPr>
              <a:t>ماذا يقدم التطبيق؟</a:t>
            </a:r>
          </a:p>
          <a:p>
            <a:pPr algn="r" rtl="1"/>
            <a:r>
              <a:rPr sz="1400">
                <a:solidFill>
                  <a:srgbClr val="DCEBF8"/>
                </a:solidFill>
                <a:latin typeface="Segoe UI"/>
              </a:rPr>
              <a:t>نظام متكامل يربط ثلاثة أطراف في تجربة نقل جامعي حديثة ومريحة: الطالب يتابع ويحجز بسهولة، السائق يشغّل ويرى الطلب لايف، والإدارة تتحكم وتتابع بالأرقام والتقارير الحية.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4114800" cy="484632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749039" cy="7772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7FF0CF"/>
                </a:solidFill>
                <a:latin typeface="Segoe UI"/>
              </a:rPr>
              <a:t>فريق العمل</a:t>
            </a:r>
          </a:p>
          <a:p>
            <a:pPr algn="ctr"/>
            <a:r>
              <a:rPr sz="1100">
                <a:solidFill>
                  <a:srgbClr val="B4D2EB"/>
                </a:solidFill>
                <a:latin typeface="Segoe UI"/>
              </a:rPr>
              <a:t>مشروع نظام إدارة وتتبع حافلات الطلاب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1216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6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12806A"/>
                </a:solidFill>
                <a:latin typeface="Segoe UI"/>
              </a:rPr>
              <a:t>Movia Bus  •  تجربة الطالب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للطالب؟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10728655" cy="329184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نقاط التميز الحصرية — موجودة في Movia Bus ومميزة عن أي تطبيق نقل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رحلة أقصر — محطات فاضية بتتعدّي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مساعد AI يحلل جدولك الدراسي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مشاركة الرحلة مع الأهل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توقع الازدحام بمساعدة الـ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فاتك الموعد؟ بديل فوري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728655" cy="329184"/>
          </a:xfrm>
          <a:prstGeom prst="roundRect">
            <a:avLst/>
          </a:prstGeom>
          <a:solidFill>
            <a:srgbClr val="1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الميزات الأساسية المشتركة — كل ما يحتاجه الطالب يومياً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25912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خريطة حية للحافلة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77456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وقت الوصول المتوقع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0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حجز المقاعد وقائمة الانتظار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25912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بطاقة ركوب QR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79976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77456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إشعارات موجهة — مش إزعاج عام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0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طوارئ SOS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8432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25912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دفع الاشتراك من التطبيق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9976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77456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9704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تقييم وبلاغات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29000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بيانات الحافلة والسائق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815584"/>
            <a:ext cx="10728655" cy="475488"/>
          </a:xfrm>
          <a:prstGeom prst="roundRect">
            <a:avLst/>
          </a:prstGeom>
          <a:solidFill>
            <a:srgbClr val="F4F8FC"/>
          </a:solidFill>
          <a:ln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0B3B6F"/>
                </a:solidFill>
                <a:latin typeface="Segoe UI"/>
              </a:rPr>
              <a:t>إجمالي 15 ميزة متكاملة: </a:t>
            </a:r>
            <a:r>
              <a:rPr sz="1050">
                <a:solidFill>
                  <a:srgbClr val="5B6B7C"/>
                </a:solidFill>
                <a:latin typeface="Segoe UI"/>
              </a:rPr>
              <a:t>6 ميزات تفوق حصرية لحل مشاكل الانتظار والتأخير + 9 ميزات أساسية تضمن أقصى درجات الراحة والأمان.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0D6A58"/>
                </a:solidFill>
                <a:latin typeface="Segoe UI"/>
              </a:rPr>
              <a:t>Movia Bus  •  تجربة السائق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للسائق؟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شغل أبسط — بلا اتصالات وبلا تخمين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DCF8EE"/>
                </a:solidFill>
                <a:latin typeface="Segoe UI"/>
              </a:rPr>
              <a:t>واجهة تشغيل فائقة السهولة: السائق يدير رحلته بزرين فقط، ويشاهد أماكن انتظار الطلاب على الخريطة دون مكالمات تشتته.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زرين بس: «ابدأ الرحلة» و«أنهِها»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بثّ الموقع تلقائياً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حالة الرحلة بتتغير لوحدها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خريطة الطلب على محطاته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تخطي المحطات الفاضية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مسح QR للركوب + عداد حي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كشف ركوب يدوي احتياطي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رحلاته مجدولة وواضحة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مفيش مكالمات — فيه شات جوه التطبيق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E9F6F1"/>
          </a:solidFill>
          <a:ln>
            <a:solidFill>
              <a:srgbClr val="AA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12806A"/>
                </a:solidFill>
                <a:latin typeface="Segoe UI"/>
              </a:rPr>
              <a:t>الخلاصة للسائق: </a:t>
            </a:r>
            <a:r>
              <a:rPr sz="1100">
                <a:solidFill>
                  <a:srgbClr val="1E2F42"/>
                </a:solidFill>
                <a:latin typeface="Segoe UI"/>
              </a:rPr>
              <a:t>أقل تشتيت أثناء القيادة، بدون مكالمات هاتفية ترن وراء المقود، ومعرفة دقيقة بعدد الركاب — رحلة أسرع وأهدى وأأمن.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8A6500"/>
                </a:solidFill>
                <a:latin typeface="Segoe UI"/>
              </a:rPr>
              <a:t>Movia Bus  •  لوحة الإدارة والتحكم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للإدارة؟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تحكم كامل — من غير رسايل يدوية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FFF5DC"/>
                </a:solidFill>
                <a:latin typeface="Segoe UI"/>
              </a:rPr>
              <a:t>نشر جدول الرحلات بضغطتين، متابعة الأسطول لحظياً على الخريطة، وقرارات تشغيلية مبنية على أرقام وتقارير موثقة لأول مرة.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نشر جدول اليوم مع مراجعة قبل التأكيد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حرية كاملة — رحلة برحلة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لوحة طلب مباشرة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حية للتشغيل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إدارة الاشتراكات والتحصيل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تقارير قابلة للتصدير PDF/Excel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البلاغات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حماية دخل الاشتراكات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خصوصية الطلاب محفوظة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4087" y="4700015"/>
            <a:ext cx="5303520" cy="749808"/>
          </a:xfrm>
          <a:prstGeom prst="roundRect">
            <a:avLst/>
          </a:prstGeom>
          <a:solidFill>
            <a:srgbClr val="FBF5E6"/>
          </a:solidFill>
          <a:ln w="15240">
            <a:solidFill>
              <a:srgbClr val="E1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087" y="4882895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4700015"/>
            <a:ext cx="437448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00" b="1">
                <a:solidFill>
                  <a:srgbClr val="1E2F42"/>
                </a:solidFill>
                <a:latin typeface="Segoe UI"/>
              </a:rPr>
              <a:t>سياسات مثبتة للجميع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BF5E6"/>
          </a:solidFill>
          <a:ln>
            <a:solidFill>
              <a:srgbClr val="E1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8A6500"/>
                </a:solidFill>
                <a:latin typeface="Segoe UI"/>
              </a:rPr>
              <a:t>الخلاصة للإدارة: </a:t>
            </a:r>
            <a:r>
              <a:rPr sz="1100">
                <a:solidFill>
                  <a:srgbClr val="1E2F42"/>
                </a:solidFill>
                <a:latin typeface="Segoe UI"/>
              </a:rPr>
              <a:t>من «كتابة يدوية ومعلومة مفقودة» إلى «نشر بضغطة، متابعة لايف، وقرارات مبنية على أرقام حقيقية» مع حماية دخل الاشتراكات.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