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8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777240"/>
            <a:ext cx="62179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200" b="1">
                <a:solidFill>
                  <a:srgbClr val="7FF0CF"/>
                </a:solidFill>
                <a:latin typeface="Segoe UI"/>
              </a:rPr>
              <a:t>دليل المميزات الشامل — منظومة النقل الذكي</a:t>
            </a:r>
          </a:p>
          <a:p>
            <a:pPr algn="r" rtl="1"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Movia Bus</a:t>
            </a:r>
          </a:p>
          <a:p>
            <a:pPr algn="r" rtl="1">
              <a:spcAft>
                <a:spcPts val="1400"/>
              </a:spcAft>
            </a:pPr>
            <a:r>
              <a:rPr sz="2800" b="1">
                <a:solidFill>
                  <a:srgbClr val="7FF0CF"/>
                </a:solidFill>
                <a:latin typeface="Segoe UI"/>
              </a:rPr>
              <a:t>ماذا يقدم التطبيق؟</a:t>
            </a:r>
          </a:p>
          <a:p>
            <a:pPr algn="r" rtl="1"/>
            <a:r>
              <a:rPr sz="1300">
                <a:solidFill>
                  <a:srgbClr val="DCEBF8"/>
                </a:solidFill>
                <a:latin typeface="Segoe UI"/>
              </a:rPr>
              <a:t>نظام متكامل يربط ثلاثة أطراف في تجربة نقل جامعي حديثة: الطالب يتابع ويحجز بسهولة، السائق يشغّل ويرى الطلب لايف، والإدارة تتحكم وتتابع بالأرقام والتقارير الحية.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73184" y="4480560"/>
            <a:ext cx="1947672" cy="1371600"/>
          </a:xfrm>
          <a:prstGeom prst="roundRect">
            <a:avLst/>
          </a:prstGeom>
          <a:solidFill>
            <a:srgbClr val="0D3058"/>
          </a:solidFill>
          <a:ln w="19050">
            <a:solidFill>
              <a:srgbClr val="194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37160"/>
          <a:lstStyle/>
          <a:p>
            <a:pPr algn="r" rtl="1">
              <a:spcAft>
                <a:spcPts val="400"/>
              </a:spcAft>
            </a:pPr>
            <a:r>
              <a:rPr sz="1100" b="1">
                <a:solidFill>
                  <a:srgbClr val="12806A"/>
                </a:solidFill>
                <a:latin typeface="Segoe UI"/>
              </a:rPr>
              <a:t>القسم 1</a:t>
            </a:r>
          </a:p>
          <a:p>
            <a:pPr algn="r" rtl="1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تجربة الطالب</a:t>
            </a:r>
          </a:p>
          <a:p>
            <a:pPr algn="r" rtl="1"/>
            <a:r>
              <a:rPr sz="950">
                <a:solidFill>
                  <a:srgbClr val="B4CDE6"/>
                </a:solidFill>
                <a:latin typeface="Segoe UI"/>
              </a:rPr>
              <a:t>15 ميزة حصرية وأساسية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42632" y="4480560"/>
            <a:ext cx="1947672" cy="1371600"/>
          </a:xfrm>
          <a:prstGeom prst="roundRect">
            <a:avLst/>
          </a:prstGeom>
          <a:solidFill>
            <a:srgbClr val="0D3058"/>
          </a:solidFill>
          <a:ln w="19050">
            <a:solidFill>
              <a:srgbClr val="194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37160"/>
          <a:lstStyle/>
          <a:p>
            <a:pPr algn="r" rtl="1">
              <a:spcAft>
                <a:spcPts val="400"/>
              </a:spcAft>
            </a:pPr>
            <a:r>
              <a:rPr sz="1100" b="1">
                <a:solidFill>
                  <a:srgbClr val="1D5A99"/>
                </a:solidFill>
                <a:latin typeface="Segoe UI"/>
              </a:rPr>
              <a:t>القسم 2</a:t>
            </a:r>
          </a:p>
          <a:p>
            <a:pPr algn="r" rtl="1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تجربة السائق</a:t>
            </a:r>
          </a:p>
          <a:p>
            <a:pPr algn="r" rtl="1"/>
            <a:r>
              <a:rPr sz="950">
                <a:solidFill>
                  <a:srgbClr val="B4CDE6"/>
                </a:solidFill>
                <a:latin typeface="Segoe UI"/>
              </a:rPr>
              <a:t>9 ميزات تشغيل بدون مكالمات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4480560"/>
            <a:ext cx="1947672" cy="1371600"/>
          </a:xfrm>
          <a:prstGeom prst="roundRect">
            <a:avLst/>
          </a:prstGeom>
          <a:solidFill>
            <a:srgbClr val="0D3058"/>
          </a:solidFill>
          <a:ln w="19050">
            <a:solidFill>
              <a:srgbClr val="194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37160"/>
          <a:lstStyle/>
          <a:p>
            <a:pPr algn="r" rtl="1">
              <a:spcAft>
                <a:spcPts val="400"/>
              </a:spcAft>
            </a:pPr>
            <a:r>
              <a:rPr sz="1100" b="1">
                <a:solidFill>
                  <a:srgbClr val="C8930C"/>
                </a:solidFill>
                <a:latin typeface="Segoe UI"/>
              </a:rPr>
              <a:t>القسم 3</a:t>
            </a:r>
          </a:p>
          <a:p>
            <a:pPr algn="r" rtl="1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لوحة الإدارة</a:t>
            </a:r>
          </a:p>
          <a:p>
            <a:pPr algn="r" rtl="1"/>
            <a:r>
              <a:rPr sz="950">
                <a:solidFill>
                  <a:srgbClr val="B4CDE6"/>
                </a:solidFill>
                <a:latin typeface="Segoe UI"/>
              </a:rPr>
              <a:t>10 ميزات تحكم وتقارير حية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05840"/>
            <a:ext cx="4114800" cy="4846320"/>
          </a:xfrm>
          <a:prstGeom prst="roundRect">
            <a:avLst/>
          </a:prstGeom>
          <a:solidFill>
            <a:srgbClr val="0D3058"/>
          </a:solidFill>
          <a:ln w="19050">
            <a:solidFill>
              <a:srgbClr val="194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374903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7FF0CF"/>
                </a:solidFill>
                <a:latin typeface="Segoe UI"/>
              </a:rPr>
              <a:t>فريق العمل</a:t>
            </a:r>
          </a:p>
          <a:p>
            <a:pPr algn="ctr"/>
            <a:r>
              <a:rPr sz="1100">
                <a:solidFill>
                  <a:srgbClr val="B4D2EB"/>
                </a:solidFill>
                <a:latin typeface="Segoe UI"/>
              </a:rPr>
              <a:t>مشروع نظام إدارة وتتبع حافلات الطلاب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2148840"/>
            <a:ext cx="1737360" cy="658368"/>
          </a:xfrm>
          <a:prstGeom prst="roundRect">
            <a:avLst/>
          </a:prstGeom>
          <a:solidFill>
            <a:srgbClr val="123A66"/>
          </a:solidFill>
          <a:ln w="15240">
            <a:solidFill>
              <a:srgbClr val="23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حسن ممدوح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2148840"/>
            <a:ext cx="1737360" cy="658368"/>
          </a:xfrm>
          <a:prstGeom prst="roundRect">
            <a:avLst/>
          </a:prstGeom>
          <a:solidFill>
            <a:srgbClr val="123A66"/>
          </a:solidFill>
          <a:ln w="15240">
            <a:solidFill>
              <a:srgbClr val="23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محمد شحاته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6" y="2971800"/>
            <a:ext cx="1737360" cy="658368"/>
          </a:xfrm>
          <a:prstGeom prst="roundRect">
            <a:avLst/>
          </a:prstGeom>
          <a:solidFill>
            <a:srgbClr val="123A66"/>
          </a:solidFill>
          <a:ln w="15240">
            <a:solidFill>
              <a:srgbClr val="23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أحمد عصام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2971800"/>
            <a:ext cx="1737360" cy="658368"/>
          </a:xfrm>
          <a:prstGeom prst="roundRect">
            <a:avLst/>
          </a:prstGeom>
          <a:solidFill>
            <a:srgbClr val="123A66"/>
          </a:solidFill>
          <a:ln w="15240">
            <a:solidFill>
              <a:srgbClr val="23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عبدالله جمال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6" y="3794760"/>
            <a:ext cx="1737360" cy="658368"/>
          </a:xfrm>
          <a:prstGeom prst="roundRect">
            <a:avLst/>
          </a:prstGeom>
          <a:solidFill>
            <a:srgbClr val="123A66"/>
          </a:solidFill>
          <a:ln w="15240">
            <a:solidFill>
              <a:srgbClr val="23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مولر باسم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794760"/>
            <a:ext cx="1737360" cy="658368"/>
          </a:xfrm>
          <a:prstGeom prst="roundRect">
            <a:avLst/>
          </a:prstGeom>
          <a:solidFill>
            <a:srgbClr val="123A66"/>
          </a:solidFill>
          <a:ln w="15240">
            <a:solidFill>
              <a:srgbClr val="235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كيرلس سمير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FF0CF"/>
                </a:solidFill>
                <a:latin typeface="Segoe UI"/>
              </a:rPr>
              <a:t>جامعة اللوتس — المنيا الجديدة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8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57255" y="274320"/>
            <a:ext cx="502920" cy="502920"/>
          </a:xfrm>
          <a:prstGeom prst="roundRect">
            <a:avLst/>
          </a:prstGeom>
          <a:solidFill>
            <a:srgbClr val="128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spcAft>
                <a:spcPts val="100"/>
              </a:spcAft>
            </a:pPr>
            <a:r>
              <a:rPr sz="1050" b="1">
                <a:solidFill>
                  <a:srgbClr val="12806A"/>
                </a:solidFill>
                <a:latin typeface="Segoe UI"/>
              </a:rPr>
              <a:t>Movia Bus  •  تجربة الطالب</a:t>
            </a:r>
          </a:p>
          <a:p>
            <a:pPr algn="r" rtl="1"/>
            <a:r>
              <a:rPr sz="2100" b="1">
                <a:solidFill>
                  <a:srgbClr val="0B3B6F"/>
                </a:solidFill>
                <a:latin typeface="Segoe UI"/>
              </a:rPr>
              <a:t>ماذا يقدم التطبيق للطالب؟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rtl="1"/>
            <a:r>
              <a:rPr sz="950">
                <a:solidFill>
                  <a:srgbClr val="5B6B7C"/>
                </a:solidFill>
                <a:latin typeface="Segoe UI"/>
              </a:rPr>
              <a:t>Movia Bus — نظام إدارة وتتبع حافلات نقل الطلاب  |  الصفحة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10728655" cy="329184"/>
          </a:xfrm>
          <a:prstGeom prst="roundRect">
            <a:avLst/>
          </a:prstGeom>
          <a:solidFill>
            <a:srgbClr val="128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182880"/>
          <a:lstStyle/>
          <a:p>
            <a:pPr algn="r" rtl="1"/>
            <a:r>
              <a:rPr sz="1100" b="1">
                <a:solidFill>
                  <a:srgbClr val="FFFFFF"/>
                </a:solidFill>
                <a:latin typeface="Segoe UI"/>
              </a:rPr>
              <a:t>نقاط التميز الحصرية — موجودة في Movia Bus ومميزة عن أي تطبيق نقل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621792"/>
          </a:xfrm>
          <a:prstGeom prst="roundRect">
            <a:avLst/>
          </a:prstGeom>
          <a:solidFill>
            <a:srgbClr val="E9F6F1"/>
          </a:solidFill>
          <a:ln w="15240">
            <a:solidFill>
              <a:srgbClr val="B4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25912" y="1581912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463040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زر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463040"/>
            <a:ext cx="3429000" cy="621792"/>
          </a:xfrm>
          <a:prstGeom prst="roundRect">
            <a:avLst/>
          </a:prstGeom>
          <a:solidFill>
            <a:srgbClr val="E9F6F1"/>
          </a:solidFill>
          <a:ln w="15240">
            <a:solidFill>
              <a:srgbClr val="B4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77456" y="1581912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463040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رحلة أقصر — محطات فاضية بتتعدّي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0"/>
            <a:ext cx="3429000" cy="621792"/>
          </a:xfrm>
          <a:prstGeom prst="roundRect">
            <a:avLst/>
          </a:prstGeom>
          <a:solidFill>
            <a:srgbClr val="E9F6F1"/>
          </a:solidFill>
          <a:ln w="15240">
            <a:solidFill>
              <a:srgbClr val="B4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581912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1463040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مساعد AI يحلل جدولك الدراسي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2212848"/>
            <a:ext cx="3429000" cy="621792"/>
          </a:xfrm>
          <a:prstGeom prst="roundRect">
            <a:avLst/>
          </a:prstGeom>
          <a:solidFill>
            <a:srgbClr val="E9F6F1"/>
          </a:solidFill>
          <a:ln w="15240">
            <a:solidFill>
              <a:srgbClr val="B4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25912" y="2331720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212848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مشاركة الرحلة مع الأهل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2212848"/>
            <a:ext cx="3429000" cy="621792"/>
          </a:xfrm>
          <a:prstGeom prst="roundRect">
            <a:avLst/>
          </a:prstGeom>
          <a:solidFill>
            <a:srgbClr val="E9F6F1"/>
          </a:solidFill>
          <a:ln w="15240">
            <a:solidFill>
              <a:srgbClr val="B4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77456" y="2331720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2212848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توقع الازدحام بمساعدة الـ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212848"/>
            <a:ext cx="3429000" cy="621792"/>
          </a:xfrm>
          <a:prstGeom prst="roundRect">
            <a:avLst/>
          </a:prstGeom>
          <a:solidFill>
            <a:srgbClr val="E9F6F1"/>
          </a:solidFill>
          <a:ln w="15240">
            <a:solidFill>
              <a:srgbClr val="B4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29000" y="2331720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212848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فاتك الموعد؟ بديل فوري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017520"/>
            <a:ext cx="10728655" cy="329184"/>
          </a:xfrm>
          <a:prstGeom prst="roundRect">
            <a:avLst/>
          </a:prstGeom>
          <a:solidFill>
            <a:srgbClr val="1D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182880"/>
          <a:lstStyle/>
          <a:p>
            <a:pPr algn="r" rtl="1"/>
            <a:r>
              <a:rPr sz="1100" b="1">
                <a:solidFill>
                  <a:srgbClr val="FFFFFF"/>
                </a:solidFill>
                <a:latin typeface="Segoe UI"/>
              </a:rPr>
              <a:t>الميزات الأساسية المشتركة — كل ما يحتاجه الطالب يومياً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3438144"/>
            <a:ext cx="34290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725912" y="3557016"/>
            <a:ext cx="621792" cy="384048"/>
          </a:xfrm>
          <a:prstGeom prst="roundRect">
            <a:avLst/>
          </a:prstGeom>
          <a:solidFill>
            <a:srgbClr val="1D5A99"/>
          </a:solidFill>
          <a:ln>
            <a:solidFill>
              <a:srgbClr val="1D5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438144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خريطة حية للحافلة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9976" y="3438144"/>
            <a:ext cx="34290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77456" y="3557016"/>
            <a:ext cx="621792" cy="384048"/>
          </a:xfrm>
          <a:prstGeom prst="roundRect">
            <a:avLst/>
          </a:prstGeom>
          <a:solidFill>
            <a:srgbClr val="1D5A99"/>
          </a:solidFill>
          <a:ln>
            <a:solidFill>
              <a:srgbClr val="1D5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3438144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وقت الوصول المتوقع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438144"/>
            <a:ext cx="34290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29000" y="3557016"/>
            <a:ext cx="621792" cy="384048"/>
          </a:xfrm>
          <a:prstGeom prst="roundRect">
            <a:avLst/>
          </a:prstGeom>
          <a:solidFill>
            <a:srgbClr val="1D5A99"/>
          </a:solidFill>
          <a:ln>
            <a:solidFill>
              <a:srgbClr val="1D5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3438144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حجز المقاعد وقائمة الانتظار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8432" y="4187952"/>
            <a:ext cx="34290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725912" y="4306824"/>
            <a:ext cx="621792" cy="384048"/>
          </a:xfrm>
          <a:prstGeom prst="roundRect">
            <a:avLst/>
          </a:prstGeom>
          <a:solidFill>
            <a:srgbClr val="1D5A99"/>
          </a:solidFill>
          <a:ln>
            <a:solidFill>
              <a:srgbClr val="1D5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187952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بطاقة ركوب QR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79976" y="4187952"/>
            <a:ext cx="34290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77456" y="4306824"/>
            <a:ext cx="621792" cy="384048"/>
          </a:xfrm>
          <a:prstGeom prst="roundRect">
            <a:avLst/>
          </a:prstGeom>
          <a:solidFill>
            <a:srgbClr val="1D5A99"/>
          </a:solidFill>
          <a:ln>
            <a:solidFill>
              <a:srgbClr val="1D5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4187952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إشعارات موجهة — مش إزعاج عام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187952"/>
            <a:ext cx="34290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29000" y="4306824"/>
            <a:ext cx="621792" cy="384048"/>
          </a:xfrm>
          <a:prstGeom prst="roundRect">
            <a:avLst/>
          </a:prstGeom>
          <a:solidFill>
            <a:srgbClr val="1D5A99"/>
          </a:solidFill>
          <a:ln>
            <a:solidFill>
              <a:srgbClr val="1D5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4187952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زر طوارئ SOS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8432" y="4937760"/>
            <a:ext cx="34290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725912" y="5056632"/>
            <a:ext cx="621792" cy="384048"/>
          </a:xfrm>
          <a:prstGeom prst="roundRect">
            <a:avLst/>
          </a:prstGeom>
          <a:solidFill>
            <a:srgbClr val="1D5A99"/>
          </a:solidFill>
          <a:ln>
            <a:solidFill>
              <a:srgbClr val="1D5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937760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دفع الاشتراك من التطبيق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79976" y="4937760"/>
            <a:ext cx="34290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077456" y="5056632"/>
            <a:ext cx="621792" cy="384048"/>
          </a:xfrm>
          <a:prstGeom prst="roundRect">
            <a:avLst/>
          </a:prstGeom>
          <a:solidFill>
            <a:srgbClr val="1D5A99"/>
          </a:solidFill>
          <a:ln>
            <a:solidFill>
              <a:srgbClr val="1D5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9704" y="4937760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تقييم وبلاغات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4937760"/>
            <a:ext cx="34290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429000" y="5056632"/>
            <a:ext cx="621792" cy="384048"/>
          </a:xfrm>
          <a:prstGeom prst="roundRect">
            <a:avLst/>
          </a:prstGeom>
          <a:solidFill>
            <a:srgbClr val="1D5A99"/>
          </a:solidFill>
          <a:ln>
            <a:solidFill>
              <a:srgbClr val="1D5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1.15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2499969" cy="62179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بيانات الحافلة والسائق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815584"/>
            <a:ext cx="10728655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182880"/>
          <a:lstStyle/>
          <a:p>
            <a:pPr algn="r" rtl="1"/>
            <a:r>
              <a:rPr sz="1100" b="1">
                <a:solidFill>
                  <a:srgbClr val="0B3B6F"/>
                </a:solidFill>
                <a:latin typeface="Segoe UI"/>
              </a:rPr>
              <a:t>إجمالي 15 ميزة متكاملة: </a:t>
            </a:r>
            <a:r>
              <a:rPr sz="1050">
                <a:solidFill>
                  <a:srgbClr val="5B6B7C"/>
                </a:solidFill>
                <a:latin typeface="Segoe UI"/>
              </a:rPr>
              <a:t>6 ميزات تفوق حصرية لحل مشاكل الانتظار والتأخير + 9 ميزات أساسية تضمن أقصى درجات الراحة والأمان.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57255" y="274320"/>
            <a:ext cx="502920" cy="502920"/>
          </a:xfrm>
          <a:prstGeom prst="roundRect">
            <a:avLst/>
          </a:prstGeom>
          <a:solidFill>
            <a:srgbClr val="0D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spcAft>
                <a:spcPts val="100"/>
              </a:spcAft>
            </a:pPr>
            <a:r>
              <a:rPr sz="1050" b="1">
                <a:solidFill>
                  <a:srgbClr val="0D6A58"/>
                </a:solidFill>
                <a:latin typeface="Segoe UI"/>
              </a:rPr>
              <a:t>Movia Bus  •  تجربة السائق</a:t>
            </a:r>
          </a:p>
          <a:p>
            <a:pPr algn="r" rtl="1"/>
            <a:r>
              <a:rPr sz="2100" b="1">
                <a:solidFill>
                  <a:srgbClr val="0B3B6F"/>
                </a:solidFill>
                <a:latin typeface="Segoe UI"/>
              </a:rPr>
              <a:t>ماذا يقدم التطبيق للسائق؟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rtl="1"/>
            <a:r>
              <a:rPr sz="950">
                <a:solidFill>
                  <a:srgbClr val="5B6B7C"/>
                </a:solidFill>
                <a:latin typeface="Segoe UI"/>
              </a:rPr>
              <a:t>Movia Bus — نظام إدارة وتتبع حافلات نقل الطلاب  |  الصفحة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78992"/>
            <a:ext cx="10728655" cy="749808"/>
          </a:xfrm>
          <a:prstGeom prst="roundRect">
            <a:avLst/>
          </a:prstGeom>
          <a:solidFill>
            <a:srgbClr val="0D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rIns="228600"/>
          <a:lstStyle/>
          <a:p>
            <a:pPr algn="r" rtl="1"/>
            <a:r>
              <a:rPr sz="1450" b="1">
                <a:solidFill>
                  <a:srgbClr val="FFFFFF"/>
                </a:solidFill>
                <a:latin typeface="Segoe UI"/>
              </a:rPr>
              <a:t>شغل أبسط — بلا اتصالات وبلا تخمين</a:t>
            </a:r>
          </a:p>
          <a:p>
            <a:pPr algn="r" rtl="1">
              <a:spcBef>
                <a:spcPts val="200"/>
              </a:spcBef>
            </a:pPr>
            <a:r>
              <a:rPr sz="1100">
                <a:solidFill>
                  <a:srgbClr val="DCF8EE"/>
                </a:solidFill>
                <a:latin typeface="Segoe UI"/>
              </a:rPr>
              <a:t>واجهة تشغيل فائقة السهولة: السائق يدير رحلته بزرين فقط، ويشاهد أماكن انتظار الطلاب على الخريطة دون مكالمات تشتته.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2066543"/>
            <a:ext cx="34290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25912" y="2340863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66543"/>
            <a:ext cx="2499969" cy="9326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350" b="1">
                <a:solidFill>
                  <a:srgbClr val="1E2F42"/>
                </a:solidFill>
                <a:latin typeface="Segoe UI"/>
              </a:rPr>
              <a:t>زرين بس: «ابدأ الرحلة» و«أنهِها»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066543"/>
            <a:ext cx="34290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77456" y="2340863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066543"/>
            <a:ext cx="2499969" cy="9326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350" b="1">
                <a:solidFill>
                  <a:srgbClr val="1E2F42"/>
                </a:solidFill>
                <a:latin typeface="Segoe UI"/>
              </a:rPr>
              <a:t>بثّ الموقع تلقائياً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066543"/>
            <a:ext cx="34290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2340863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066543"/>
            <a:ext cx="2499969" cy="9326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350" b="1">
                <a:solidFill>
                  <a:srgbClr val="1E2F42"/>
                </a:solidFill>
                <a:latin typeface="Segoe UI"/>
              </a:rPr>
              <a:t>حالة الرحلة بتتغير لوحدها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3200399"/>
            <a:ext cx="34290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25912" y="3474719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00399"/>
            <a:ext cx="2499969" cy="9326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350" b="1">
                <a:solidFill>
                  <a:srgbClr val="1E2F42"/>
                </a:solidFill>
                <a:latin typeface="Segoe UI"/>
              </a:rPr>
              <a:t>خريطة الطلب على محطاته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3200399"/>
            <a:ext cx="34290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77456" y="3474719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3200399"/>
            <a:ext cx="2499969" cy="9326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350" b="1">
                <a:solidFill>
                  <a:srgbClr val="1E2F42"/>
                </a:solidFill>
                <a:latin typeface="Segoe UI"/>
              </a:rPr>
              <a:t>تخطي المحطات الفاضية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00399"/>
            <a:ext cx="34290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29000" y="3474719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00399"/>
            <a:ext cx="2499969" cy="9326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350" b="1">
                <a:solidFill>
                  <a:srgbClr val="1E2F42"/>
                </a:solidFill>
                <a:latin typeface="Segoe UI"/>
              </a:rPr>
              <a:t>مسح QR للركوب + عداد حي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4334255"/>
            <a:ext cx="34290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725912" y="4608575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334255"/>
            <a:ext cx="2499969" cy="9326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350" b="1">
                <a:solidFill>
                  <a:srgbClr val="1E2F42"/>
                </a:solidFill>
                <a:latin typeface="Segoe UI"/>
              </a:rPr>
              <a:t>كشف ركوب يدوي احتياطي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4334255"/>
            <a:ext cx="34290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77456" y="4608575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334255"/>
            <a:ext cx="2499969" cy="9326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350" b="1">
                <a:solidFill>
                  <a:srgbClr val="1E2F42"/>
                </a:solidFill>
                <a:latin typeface="Segoe UI"/>
              </a:rPr>
              <a:t>رحلاته مجدولة وواضحة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334255"/>
            <a:ext cx="34290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29000" y="4608575"/>
            <a:ext cx="621792" cy="384048"/>
          </a:xfrm>
          <a:prstGeom prst="roundRect">
            <a:avLst/>
          </a:prstGeom>
          <a:solidFill>
            <a:srgbClr val="12806A"/>
          </a:solidFill>
          <a:ln>
            <a:solidFill>
              <a:srgbClr val="128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2.9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4334255"/>
            <a:ext cx="2499969" cy="9326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350" b="1">
                <a:solidFill>
                  <a:srgbClr val="1E2F42"/>
                </a:solidFill>
                <a:latin typeface="Segoe UI"/>
              </a:rPr>
              <a:t>مفيش مكالمات — فيه شات جوه التطبيق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10728655" cy="621792"/>
          </a:xfrm>
          <a:prstGeom prst="roundRect">
            <a:avLst/>
          </a:prstGeom>
          <a:solidFill>
            <a:srgbClr val="E9F6F1"/>
          </a:solidFill>
          <a:ln>
            <a:solidFill>
              <a:srgbClr val="AA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28600"/>
          <a:lstStyle/>
          <a:p>
            <a:pPr algn="r" rtl="1"/>
            <a:r>
              <a:rPr sz="1200" b="1">
                <a:solidFill>
                  <a:srgbClr val="12806A"/>
                </a:solidFill>
                <a:latin typeface="Segoe UI"/>
              </a:rPr>
              <a:t>الخلاصة للسائق: </a:t>
            </a:r>
            <a:r>
              <a:rPr sz="1100">
                <a:solidFill>
                  <a:srgbClr val="1E2F42"/>
                </a:solidFill>
                <a:latin typeface="Segoe UI"/>
              </a:rPr>
              <a:t>أقل تشتيت أثناء القيادة، بدون مكالمات هاتفية ترن وراء المقود، ومعرفة دقيقة بعدد الركاب — رحلة أسرع وأهدى وأأمن.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A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57255" y="274320"/>
            <a:ext cx="502920" cy="502920"/>
          </a:xfrm>
          <a:prstGeom prst="roundRect">
            <a:avLst/>
          </a:prstGeom>
          <a:solidFill>
            <a:srgbClr val="8A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spcAft>
                <a:spcPts val="100"/>
              </a:spcAft>
            </a:pPr>
            <a:r>
              <a:rPr sz="1050" b="1">
                <a:solidFill>
                  <a:srgbClr val="8A6500"/>
                </a:solidFill>
                <a:latin typeface="Segoe UI"/>
              </a:rPr>
              <a:t>Movia Bus  •  لوحة الإدارة والتحكم</a:t>
            </a:r>
          </a:p>
          <a:p>
            <a:pPr algn="r" rtl="1"/>
            <a:r>
              <a:rPr sz="2100" b="1">
                <a:solidFill>
                  <a:srgbClr val="0B3B6F"/>
                </a:solidFill>
                <a:latin typeface="Segoe UI"/>
              </a:rPr>
              <a:t>ماذا يقدم التطبيق للإدارة؟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rtl="1"/>
            <a:r>
              <a:rPr sz="950">
                <a:solidFill>
                  <a:srgbClr val="5B6B7C"/>
                </a:solidFill>
                <a:latin typeface="Segoe UI"/>
              </a:rPr>
              <a:t>Movia Bus — نظام إدارة وتتبع حافلات نقل الطلاب  |  الصفحة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78992"/>
            <a:ext cx="10728655" cy="749808"/>
          </a:xfrm>
          <a:prstGeom prst="roundRect">
            <a:avLst/>
          </a:prstGeom>
          <a:solidFill>
            <a:srgbClr val="8A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rIns="228600"/>
          <a:lstStyle/>
          <a:p>
            <a:pPr algn="r" rtl="1"/>
            <a:r>
              <a:rPr sz="1450" b="1">
                <a:solidFill>
                  <a:srgbClr val="FFFFFF"/>
                </a:solidFill>
                <a:latin typeface="Segoe UI"/>
              </a:rPr>
              <a:t>تحكم كامل — من غير رسايل يدوية</a:t>
            </a:r>
          </a:p>
          <a:p>
            <a:pPr algn="r" rtl="1">
              <a:spcBef>
                <a:spcPts val="200"/>
              </a:spcBef>
            </a:pPr>
            <a:r>
              <a:rPr sz="1100">
                <a:solidFill>
                  <a:srgbClr val="FFF5DC"/>
                </a:solidFill>
                <a:latin typeface="Segoe UI"/>
              </a:rPr>
              <a:t>نشر جدول الرحلات بضغطتين، متابعة الأسطول لحظياً على الخريطة، وقرارات تشغيلية مبنية على أرقام وتقارير موثقة لأول مرة.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2066543"/>
            <a:ext cx="34290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D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25912" y="2249423"/>
            <a:ext cx="621792" cy="384048"/>
          </a:xfrm>
          <a:prstGeom prst="roundRect">
            <a:avLst/>
          </a:prstGeom>
          <a:solidFill>
            <a:srgbClr val="8A6500"/>
          </a:solidFill>
          <a:ln>
            <a:solidFill>
              <a:srgbClr val="8A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66543"/>
            <a:ext cx="2499969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نشر جدول اليوم مع مراجعة قبل التأكيد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066543"/>
            <a:ext cx="34290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D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77456" y="2249423"/>
            <a:ext cx="621792" cy="384048"/>
          </a:xfrm>
          <a:prstGeom prst="roundRect">
            <a:avLst/>
          </a:prstGeom>
          <a:solidFill>
            <a:srgbClr val="8A6500"/>
          </a:solidFill>
          <a:ln>
            <a:solidFill>
              <a:srgbClr val="8A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066543"/>
            <a:ext cx="2499969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حرية كاملة — رحلة برحلة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066543"/>
            <a:ext cx="34290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D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2249423"/>
            <a:ext cx="621792" cy="384048"/>
          </a:xfrm>
          <a:prstGeom prst="roundRect">
            <a:avLst/>
          </a:prstGeom>
          <a:solidFill>
            <a:srgbClr val="8A6500"/>
          </a:solidFill>
          <a:ln>
            <a:solidFill>
              <a:srgbClr val="8A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066543"/>
            <a:ext cx="2499969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لوحة طلب مباشرة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2944367"/>
            <a:ext cx="34290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D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25912" y="3127247"/>
            <a:ext cx="621792" cy="384048"/>
          </a:xfrm>
          <a:prstGeom prst="roundRect">
            <a:avLst/>
          </a:prstGeom>
          <a:solidFill>
            <a:srgbClr val="8A6500"/>
          </a:solidFill>
          <a:ln>
            <a:solidFill>
              <a:srgbClr val="8A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944367"/>
            <a:ext cx="2499969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متابعة حية للتشغيل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2944367"/>
            <a:ext cx="34290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D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77456" y="3127247"/>
            <a:ext cx="621792" cy="384048"/>
          </a:xfrm>
          <a:prstGeom prst="roundRect">
            <a:avLst/>
          </a:prstGeom>
          <a:solidFill>
            <a:srgbClr val="8A6500"/>
          </a:solidFill>
          <a:ln>
            <a:solidFill>
              <a:srgbClr val="8A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2944367"/>
            <a:ext cx="2499969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إدارة الاشتراكات والتحصيل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44367"/>
            <a:ext cx="34290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D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29000" y="3127247"/>
            <a:ext cx="621792" cy="384048"/>
          </a:xfrm>
          <a:prstGeom prst="roundRect">
            <a:avLst/>
          </a:prstGeom>
          <a:solidFill>
            <a:srgbClr val="8A6500"/>
          </a:solidFill>
          <a:ln>
            <a:solidFill>
              <a:srgbClr val="8A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944367"/>
            <a:ext cx="2499969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تقارير قابلة للتصدير PDF/Excel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3822191"/>
            <a:ext cx="34290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D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725912" y="4005071"/>
            <a:ext cx="621792" cy="384048"/>
          </a:xfrm>
          <a:prstGeom prst="roundRect">
            <a:avLst/>
          </a:prstGeom>
          <a:solidFill>
            <a:srgbClr val="8A6500"/>
          </a:solidFill>
          <a:ln>
            <a:solidFill>
              <a:srgbClr val="8A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822191"/>
            <a:ext cx="2499969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متابعة البلاغات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3822191"/>
            <a:ext cx="34290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D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77456" y="4005071"/>
            <a:ext cx="621792" cy="384048"/>
          </a:xfrm>
          <a:prstGeom prst="roundRect">
            <a:avLst/>
          </a:prstGeom>
          <a:solidFill>
            <a:srgbClr val="8A6500"/>
          </a:solidFill>
          <a:ln>
            <a:solidFill>
              <a:srgbClr val="8A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3822191"/>
            <a:ext cx="2499969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حماية دخل الاشتراكات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822191"/>
            <a:ext cx="34290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D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29000" y="4005071"/>
            <a:ext cx="621792" cy="384048"/>
          </a:xfrm>
          <a:prstGeom prst="roundRect">
            <a:avLst/>
          </a:prstGeom>
          <a:solidFill>
            <a:srgbClr val="8A6500"/>
          </a:solidFill>
          <a:ln>
            <a:solidFill>
              <a:srgbClr val="8A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3.9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3822191"/>
            <a:ext cx="2499969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250" b="1">
                <a:solidFill>
                  <a:srgbClr val="1E2F42"/>
                </a:solidFill>
                <a:latin typeface="Segoe UI"/>
              </a:rPr>
              <a:t>خصوصية الطلاب محفوظة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4087" y="4700015"/>
            <a:ext cx="5303520" cy="749808"/>
          </a:xfrm>
          <a:prstGeom prst="roundRect">
            <a:avLst/>
          </a:prstGeom>
          <a:solidFill>
            <a:srgbClr val="FBF5E6"/>
          </a:solidFill>
          <a:ln w="15240">
            <a:solidFill>
              <a:srgbClr val="E1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16087" y="4882895"/>
            <a:ext cx="621792" cy="384048"/>
          </a:xfrm>
          <a:prstGeom prst="roundRect">
            <a:avLst/>
          </a:prstGeom>
          <a:solidFill>
            <a:srgbClr val="8A6500"/>
          </a:solidFill>
          <a:ln>
            <a:solidFill>
              <a:srgbClr val="8A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3.10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3815" y="4700015"/>
            <a:ext cx="4374489" cy="74980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 rtl="1"/>
            <a:r>
              <a:rPr sz="1300" b="1">
                <a:solidFill>
                  <a:srgbClr val="1E2F42"/>
                </a:solidFill>
                <a:latin typeface="Segoe UI"/>
              </a:rPr>
              <a:t>سياسات مثبتة للجميع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623560"/>
            <a:ext cx="10728655" cy="621792"/>
          </a:xfrm>
          <a:prstGeom prst="roundRect">
            <a:avLst/>
          </a:prstGeom>
          <a:solidFill>
            <a:srgbClr val="FBF5E6"/>
          </a:solidFill>
          <a:ln>
            <a:solidFill>
              <a:srgbClr val="E1C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28600"/>
          <a:lstStyle/>
          <a:p>
            <a:pPr algn="r" rtl="1"/>
            <a:r>
              <a:rPr sz="1200" b="1">
                <a:solidFill>
                  <a:srgbClr val="8A6500"/>
                </a:solidFill>
                <a:latin typeface="Segoe UI"/>
              </a:rPr>
              <a:t>الخلاصة للإدارة: </a:t>
            </a:r>
            <a:r>
              <a:rPr sz="1100">
                <a:solidFill>
                  <a:srgbClr val="1E2F42"/>
                </a:solidFill>
                <a:latin typeface="Segoe UI"/>
              </a:rPr>
              <a:t>من «كتابة يدوية ومعلومة مفقودة» إلى «نشر بضغطة، متابعة لايف، وقرارات مبنية على أرقام حقيقية» مع حماية دخل الاشتراكات.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